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-1097280"/>
            <a:ext cx="5943600" cy="5943600"/>
          </a:xfrm>
          <a:prstGeom prst="ellipse">
            <a:avLst/>
          </a:prstGeom>
          <a:solidFill>
            <a:srgbClr val="0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200400"/>
            <a:ext cx="4114800" cy="4114800"/>
          </a:xfrm>
          <a:prstGeom prst="ellipse">
            <a:avLst/>
          </a:prstGeom>
          <a:solidFill>
            <a:srgbClr val="0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731520"/>
            <a:ext cx="2926080" cy="292608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74980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SOCIAL MEDIA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Sports Betting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B4D8"/>
                </a:solidFill>
                <a:latin typeface="Calibri"/>
              </a:rPr>
              <a:t>Influence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260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858768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EA8BB"/>
                </a:solidFill>
                <a:latin typeface="Calibri"/>
              </a:rPr>
              <a:t>Mapping opinion leaders, community structure &amp;
the homophily vs. social influence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800600"/>
            <a:ext cx="5029200" cy="36576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983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Abhay Puri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852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John MacDonald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5869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Liam Thompson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983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Ethan Davenport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852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Carter St. Geme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5869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Grant Treadaway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46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EA8BB"/>
                </a:solidFill>
                <a:latin typeface="Calibri"/>
              </a:rPr>
              <a:t>Data: Covers.com Forum  ·  Network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What We'll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5577840" cy="100584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6733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0756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Why post volume doesn't tell the full 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577840" cy="100584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6733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Data &amp; Network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20756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Covers.com forum → directed interaction 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70632"/>
            <a:ext cx="5577840" cy="100584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770632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84378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284378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Network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2461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Density, components, degree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770632"/>
            <a:ext cx="5577840" cy="100584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770632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284378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284378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Centrality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32461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All four metrics — and why they diverge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941064"/>
            <a:ext cx="5577840" cy="100584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941064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01421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40142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Community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" y="44165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Louvain clustering &amp; organic bettor groups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941064"/>
            <a:ext cx="5577840" cy="100584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941064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1" y="401421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40142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GraphRAG Content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44165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Querying post content with AI + knowledge graph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111496"/>
            <a:ext cx="5577840" cy="100584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111496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51846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Calibr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1846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Homophily vs. Influence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5586983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Are clusters self-selected or shaped by influencers?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111496"/>
            <a:ext cx="5577840" cy="100584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5111496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1" y="51846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Calibr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6872" y="51846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Key Findings &amp; Business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6872" y="5586983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Who really drives opinion in sports betting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01  · 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Follower Count Fallacy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8"/>
                </a:solidFill>
                <a:latin typeface="Calibri"/>
              </a:rPr>
              <a:t>Sports betting forums on Covers.com are large and highly active — but raw post volume and follower count don't reveal who actually shapes opinion.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34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The Real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  <a:latin typeface="Calibri"/>
              </a:rPr>
              <a:t>Network analytics can identify true influencers and answer whether bettor clusters form because users influence each other — or because like-minded people were already drawn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03520" cy="13716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3619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9,841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12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EA8BB"/>
                </a:solidFill>
                <a:latin typeface="Calibri"/>
              </a:rPr>
              <a:t>Total Forum Posts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035808"/>
            <a:ext cx="5303520" cy="13716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NFL · MLB · NHL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78561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EA8BB"/>
                </a:solidFill>
                <a:latin typeface="Calibri"/>
              </a:rPr>
              <a:t>Sports Covered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08576"/>
            <a:ext cx="5303520" cy="13716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6817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~30%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35838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EA8BB"/>
                </a:solidFill>
                <a:latin typeface="Calibri"/>
              </a:rPr>
              <a:t>Posts With Quote/Reply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217920"/>
            <a:ext cx="11338560" cy="457200"/>
          </a:xfrm>
          <a:prstGeom prst="rect">
            <a:avLst/>
          </a:prstGeom>
          <a:solidFill>
            <a:srgbClr val="00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💡  We want to find the real influencers — not just the loudest voices.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02  ·  DATA &amp; NETWORK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From Forum Posts to Network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3429000" cy="256032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3429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Raw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Covers.com forum posts
sport · poster · quoted_user
9,841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91640"/>
            <a:ext cx="3429000" cy="256032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691640"/>
            <a:ext cx="3429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7830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Edge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poster → quoted_user
when has_quote = True
Weighted by 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691640"/>
            <a:ext cx="3429000" cy="256032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691640"/>
            <a:ext cx="3429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7830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🕸️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4688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Directed, weighted DiGraph
Nodes = users
Edges = reply interactions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80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Network Properties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983480"/>
            <a:ext cx="457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01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Nodes (users)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001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A8BB"/>
                </a:solidFill>
                <a:latin typeface="Calibri"/>
              </a:rPr>
              <a:t>Unique forum participants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385816"/>
            <a:ext cx="457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404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Edges (directed)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404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A8BB"/>
                </a:solidFill>
                <a:latin typeface="Calibri"/>
              </a:rPr>
              <a:t>Quote / reply interactions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788152"/>
            <a:ext cx="457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Edge weight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A8BB"/>
                </a:solidFill>
                <a:latin typeface="Calibri"/>
              </a:rPr>
              <a:t>Interaction frequency between pair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190488"/>
            <a:ext cx="457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208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Self-loops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6208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A8BB"/>
                </a:solidFill>
                <a:latin typeface="Calibri"/>
              </a:rPr>
              <a:t>Removed — can't quote yourself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434840"/>
            <a:ext cx="4937760" cy="219456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4526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B4D8"/>
                </a:solidFill>
                <a:latin typeface="Calibri"/>
              </a:rPr>
              <a:t>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663440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8"/>
                </a:solidFill>
                <a:latin typeface="Calibri"/>
              </a:rPr>
              <a:t>Covers.com is one of the largest online sports betting communities. Quote-replies reveal exactly who each user is engaging with — a clean proxy for directed attention.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62636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A8BB"/>
                </a:solidFill>
                <a:latin typeface="Calibri"/>
              </a:rPr>
              <a:t>— Data Source Rationale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03  ·  NETWORK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Power-Law Distribution — A Real Social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2651760" cy="13716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/>
              </a:rPr>
              <a:t>296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Users (nodes)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64208"/>
            <a:ext cx="2651760" cy="13716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5564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/>
              </a:rPr>
              <a:t>481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Interactions (edges)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2651760" cy="13716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5564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/>
              </a:rPr>
              <a:t>0.0055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Network Density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664208"/>
            <a:ext cx="2651760" cy="13716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75564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/>
              </a:rPr>
              <a:t>0.623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Modularity Score</a:t>
            </a:r>
          </a:p>
        </p:txBody>
      </p:sp>
      <p:pic>
        <p:nvPicPr>
          <p:cNvPr id="19" name="Picture 18" descr="plot1_degre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46120"/>
            <a:ext cx="1133856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04  ·  CENTRALITY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Four Metrics. Four Different Stories.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5577840" cy="20574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64008" cy="2057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1892808"/>
            <a:ext cx="47548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928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74520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  <a:latin typeface="Calibri"/>
              </a:rPr>
              <a:t>Degree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86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1A"/>
                </a:solidFill>
                <a:latin typeface="Calibri"/>
              </a:rPr>
              <a:t>Who is most active?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Counts direct connections — identifies the most popular/prolific users.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5577840" cy="20574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64008" cy="205740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3952" y="1892808"/>
            <a:ext cx="47548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8928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74520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2C39A"/>
                </a:solidFill>
                <a:latin typeface="Calibri"/>
              </a:rPr>
              <a:t>Betweenness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286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1A"/>
                </a:solidFill>
                <a:latin typeface="Calibri"/>
              </a:rPr>
              <a:t>Who bridges clusters?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How often a user sits on shortest paths — the hidden bridge metric.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31920"/>
            <a:ext cx="5577840" cy="20574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931920"/>
            <a:ext cx="64008" cy="2057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" y="4133088"/>
            <a:ext cx="47548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1330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14800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  <a:latin typeface="Calibri"/>
              </a:rPr>
              <a:t>Closeness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262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1A"/>
                </a:solidFill>
                <a:latin typeface="Calibri"/>
              </a:rPr>
              <a:t>Who spreads info fastest?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377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How quickly a user can reach everyone else in the network.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931920"/>
            <a:ext cx="5577840" cy="20574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931920"/>
            <a:ext cx="64008" cy="205740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73952" y="4133088"/>
            <a:ext cx="47548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1330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114800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2C39A"/>
                </a:solidFill>
                <a:latin typeface="Calibri"/>
              </a:rPr>
              <a:t>PageRank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5262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1A"/>
                </a:solidFill>
                <a:latin typeface="Calibri"/>
              </a:rPr>
              <a:t>Who do important users engage with?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377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Google-style: high score = other high-score users reply to you.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199632"/>
            <a:ext cx="11338560" cy="502920"/>
          </a:xfrm>
          <a:prstGeom prst="rect">
            <a:avLst/>
          </a:prstGeom>
          <a:solidFill>
            <a:srgbClr val="00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2362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🔑  Key Question: Are the top-volume users the same as top-PageRank users? →  See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04  ·  CENTRALITY ANALYSIS — RANKINGS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Who Appears in Which Lists?</a:t>
            </a:r>
          </a:p>
        </p:txBody>
      </p:sp>
      <p:pic>
        <p:nvPicPr>
          <p:cNvPr id="7" name="Picture 6" descr="plot2_centrality_ran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1328"/>
            <a:ext cx="11640312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5321808"/>
            <a:ext cx="11338560" cy="502920"/>
          </a:xfrm>
          <a:prstGeom prst="rect">
            <a:avLst/>
          </a:prstGeom>
          <a:solidFill>
            <a:srgbClr val="00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675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🔑  A-Ha: MrBator leads Betweenness but doesn't appear in Post Volume — a true bridge account invisible to surface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0167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Spearman r  (Volume vs Betweenness) = 0.507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6016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EA8BB"/>
                </a:solidFill>
                <a:latin typeface="Calibri"/>
              </a:rPr>
              <a:t>Spearman r  (Volume vs PageRank)    = 0.416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04  ·  CENTRALITY ANALYSIS — ACTIVE ≠ INFLUENTIAL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Post Volume vs. True Influence</a:t>
            </a:r>
          </a:p>
        </p:txBody>
      </p:sp>
      <p:pic>
        <p:nvPicPr>
          <p:cNvPr id="7" name="Picture 6" descr="plot3_volume_vs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114300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5715000"/>
            <a:ext cx="11338560" cy="502920"/>
          </a:xfrm>
          <a:prstGeom prst="rect">
            <a:avLst/>
          </a:prstGeom>
          <a:solidFill>
            <a:srgbClr val="00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🔑  Scattered points = weak correlation. Red dots = truly influential users. Most don't have extreme post 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05  ·  COMMUNITY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12 Organic Communities — Modularity 0.623</a:t>
            </a:r>
          </a:p>
        </p:txBody>
      </p:sp>
      <p:pic>
        <p:nvPicPr>
          <p:cNvPr id="7" name="Picture 6" descr="plot5_commu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1328"/>
            <a:ext cx="1152144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5559552"/>
            <a:ext cx="11338560" cy="502920"/>
          </a:xfrm>
          <a:prstGeom prst="rect">
            <a:avLst/>
          </a:prstGeom>
          <a:solidFill>
            <a:srgbClr val="00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052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🔑  Modularity 0.623 is very strong. Sport-based echo chambers visible — NFL, MLB, NHL users cluster separately.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1996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A8BB"/>
                </a:solidFill>
                <a:latin typeface="Calibri"/>
              </a:rPr>
              <a:t>12 communities  ·  77.5% of edges within-community  ·  Louvain on undirected projection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05  ·  COMMUNITY DETECTION — NETWORK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Influence Network, Colored by Community</a:t>
            </a:r>
          </a:p>
        </p:txBody>
      </p:sp>
      <p:pic>
        <p:nvPicPr>
          <p:cNvPr id="7" name="Picture 6" descr="plot6_network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1328"/>
            <a:ext cx="1152144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A8BB"/>
                </a:solidFill>
                <a:latin typeface="Calibri"/>
              </a:rPr>
              <a:t>Node size = PageRank  ·  Color = Community  ·  Labels = top-12 by PageRank  ·  Edges = quote-replies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06  ·  GRAPHRAG CONTENT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Are Bettors Actually Talking About?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How GraphRAG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03120"/>
            <a:ext cx="5486400" cy="9144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103120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17627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Load &amp; 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5603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CSV posts → unique IDs, cleaned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36391"/>
            <a:ext cx="5486400" cy="9144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136391"/>
            <a:ext cx="64008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1927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2C39A"/>
                </a:solidFill>
                <a:latin typeface="Calibri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20954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Neo4j Knowledge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593591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User, Post, Sport nodes + WROTE / QUOTES / IN_SPORT edges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169663"/>
            <a:ext cx="5486400" cy="9144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169663"/>
            <a:ext cx="64008" cy="914400"/>
          </a:xfrm>
          <a:prstGeom prst="rect">
            <a:avLst/>
          </a:prstGeom>
          <a:solidFill>
            <a:srgbClr val="FFC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31A"/>
                </a:solidFill>
                <a:latin typeface="Calibr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24281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1A"/>
                </a:solidFill>
                <a:latin typeface="Calibri"/>
              </a:rPr>
              <a:t>Vector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2686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OpenAI embeddings on every post — semantic similarity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202936"/>
            <a:ext cx="5486400" cy="914400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5202936"/>
            <a:ext cx="64008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8581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78BFA"/>
                </a:solidFill>
                <a:latin typeface="Calibri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27608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Query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6601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Vector search + graph traversal + conversation history → GPT-4o-mini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002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Example Queries on Our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03120"/>
            <a:ext cx="5577840" cy="1353312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1762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Q: What are the main NFL themes?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606039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A: Betting trends, team support dynamics, and confirmation bias — sharp bettors seeking validation for their picks.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566160"/>
            <a:ext cx="5577840" cy="1353312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6393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Q: Who is driving the sharp vs. casual divide?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6908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A: Users like pattomlinson and DJK anchor sharp-side discussion; casual fan threads cluster around team loyalty.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029200"/>
            <a:ext cx="5577840" cy="1353312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1023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Q: Is sharp betting discussed in other sports?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53212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A: Insufficient evidence — the dataset is NFL-dominant for analytical betting content.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199632"/>
            <a:ext cx="11338560" cy="475488"/>
          </a:xfrm>
          <a:prstGeom prst="rect">
            <a:avLst/>
          </a:prstGeom>
          <a:solidFill>
            <a:srgbClr val="00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36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🔑  GraphRAG bridges the content layer and the network layer — confirming sharp vs. casual clusters structurally AND semantically.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07  ·  HOMOPHILY VS. SOCIAL INFLUENCE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Why Do Bettors Cluster? The Data Answers.</a:t>
            </a:r>
          </a:p>
        </p:txBody>
      </p:sp>
      <p:pic>
        <p:nvPicPr>
          <p:cNvPr id="7" name="Picture 6" descr="plot7_homoph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1328"/>
            <a:ext cx="11521440" cy="4206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5779008"/>
            <a:ext cx="11338560" cy="502920"/>
          </a:xfrm>
          <a:prstGeom prst="rect">
            <a:avLst/>
          </a:prstGeom>
          <a:solidFill>
            <a:srgbClr val="00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247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🔑  77.5% within-community edges → homophily dominates. Followers of top-5 influencers ARE significantly more active (p=0.0014).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08  ·  KEY FINDINGS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So What Does This Tell 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7863840" cy="1298448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64008" cy="12984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373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Active ≠ Influential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4884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MrBator leads betweenness but barely cracks the post-volume top-10. Bridge accounts drive cross-community flow invisibly.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127248"/>
            <a:ext cx="7863840" cy="1298448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127248"/>
            <a:ext cx="64008" cy="12984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🏘️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004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Strong Community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1188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Modularity 0.623 and 77.5% within-community edges confirm sharp and casual bettors are far more separated than the forum appears.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90288"/>
            <a:ext cx="7863840" cy="1298448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590288"/>
            <a:ext cx="64008" cy="12984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6344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Homophily Dominates, But Influence Exists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7492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Users self-select by sport &amp; style, but followers of top-PageRank users are significantly more active (p=0.0014). Both forces present.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6642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Business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148840"/>
            <a:ext cx="3108960" cy="1298448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2148840"/>
            <a:ext cx="64008" cy="1298448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96528" y="22128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21284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Sportsbooks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263347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Network-based influencer scores for targeted sentiment campaigns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611880"/>
            <a:ext cx="3108960" cy="1298448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3611880"/>
            <a:ext cx="64008" cy="1298448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96528" y="36758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3675887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Sports Media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409651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Identify who moves public betting sentiment, not just who posts most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5074920"/>
            <a:ext cx="3108960" cy="1298448"/>
          </a:xfrm>
          <a:prstGeom prst="rect">
            <a:avLst/>
          </a:prstGeom>
          <a:solidFill>
            <a:srgbClr val="132A3E"/>
          </a:solidFill>
          <a:ln w="9525">
            <a:solidFill>
              <a:srgbClr val="02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0" y="5074920"/>
            <a:ext cx="64008" cy="1298448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5138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51389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Integrity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6528" y="555955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Tout scammers: high out-degree, low betweenness — flaggable pattern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-457200"/>
            <a:ext cx="7315200" cy="7315200"/>
          </a:xfrm>
          <a:prstGeom prst="ellipse">
            <a:avLst/>
          </a:prstGeom>
          <a:solidFill>
            <a:srgbClr val="0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14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B4D8"/>
                </a:solidFill>
                <a:latin typeface="Calibri"/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520440"/>
            <a:ext cx="4572000" cy="45720"/>
          </a:xfrm>
          <a:prstGeom prst="rect">
            <a:avLst/>
          </a:prstGeom>
          <a:solidFill>
            <a:srgbClr val="028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Abhay Puri  ·  John MacDonald  ·  Liam Thompson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Ethan Davenport  ·  Carter St. Geme  ·  Grant Treadaway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7091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A8BB"/>
                </a:solidFill>
                <a:latin typeface="Calibri"/>
              </a:rPr>
              <a:t>Social Media Analytics  ·  Sports Betting Influence Network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BB"/>
                </a:solidFill>
                <a:latin typeface="Calibri"/>
              </a:rPr>
              <a:t>Data: Covers.com forum  ·  Tools: Python · NetworkX · Louvain · Neo4j · GraphRAG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